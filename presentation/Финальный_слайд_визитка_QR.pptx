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The Youngest Serif" charset="1" panose="00000500000000000000"/>
      <p:regular r:id="rId7"/>
    </p:embeddedFont>
    <p:embeddedFont>
      <p:font typeface="Public Sans" charset="1" panose="00000000000000000000"/>
      <p:regular r:id="rId8"/>
    </p:embeddedFont>
    <p:embeddedFont>
      <p:font typeface="Public Sans Bold" charset="1" panose="000000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8324850" cy="381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0"/>
              </a:lnSpc>
            </a:pPr>
            <a:r>
              <a:rPr lang="en-US" sz="9000" u="none">
                <a:solidFill>
                  <a:srgbClr val="D97757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Материалы докладов и контакт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29875" y="8724900"/>
            <a:ext cx="7858125" cy="1562100"/>
            <a:chOff x="0" y="0"/>
            <a:chExt cx="1397000" cy="2777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7000" cy="277707"/>
            </a:xfrm>
            <a:custGeom>
              <a:avLst/>
              <a:gdLst/>
              <a:ahLst/>
              <a:cxnLst/>
              <a:rect r="r" b="b" t="t" l="l"/>
              <a:pathLst>
                <a:path h="277707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277707"/>
                  </a:lnTo>
                  <a:lnTo>
                    <a:pt x="0" y="277707"/>
                  </a:lnTo>
                  <a:close/>
                </a:path>
              </a:pathLst>
            </a:custGeom>
            <a:solidFill>
              <a:srgbClr val="F7927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397000" cy="334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29875" y="0"/>
            <a:ext cx="7858125" cy="8724900"/>
            <a:chOff x="0" y="0"/>
            <a:chExt cx="1217429" cy="13517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7429" cy="1351715"/>
            </a:xfrm>
            <a:custGeom>
              <a:avLst/>
              <a:gdLst/>
              <a:ahLst/>
              <a:cxnLst/>
              <a:rect r="r" b="b" t="t" l="l"/>
              <a:pathLst>
                <a:path h="1351715" w="1217429">
                  <a:moveTo>
                    <a:pt x="0" y="0"/>
                  </a:moveTo>
                  <a:lnTo>
                    <a:pt x="1217429" y="0"/>
                  </a:lnTo>
                  <a:lnTo>
                    <a:pt x="1217429" y="1351715"/>
                  </a:lnTo>
                  <a:lnTo>
                    <a:pt x="0" y="1351715"/>
                  </a:lnTo>
                  <a:close/>
                </a:path>
              </a:pathLst>
            </a:custGeom>
            <a:blipFill>
              <a:blip r:embed="rId2"/>
              <a:stretch>
                <a:fillRect l="0" t="-36" r="0" b="-3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172950" y="9297988"/>
            <a:ext cx="4314825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sz="2000">
                <a:solidFill>
                  <a:srgbClr val="3A3A3A"/>
                </a:solidFill>
                <a:latin typeface="Public Sans"/>
                <a:ea typeface="Public Sans"/>
                <a:cs typeface="Public Sans"/>
                <a:sym typeface="Public Sans"/>
              </a:rPr>
              <a:t>АВГУСТ 2026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6275" y="9074800"/>
            <a:ext cx="6877050" cy="581976"/>
            <a:chOff x="0" y="0"/>
            <a:chExt cx="9169400" cy="77596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1027306" y="68118"/>
              <a:ext cx="8142094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b="true" sz="2499">
                  <a:solidFill>
                    <a:srgbClr val="3A3A3A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Ваша организация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5968" cy="775968"/>
            </a:xfrm>
            <a:custGeom>
              <a:avLst/>
              <a:gdLst/>
              <a:ahLst/>
              <a:cxnLst/>
              <a:rect r="r" b="b" t="t" l="l"/>
              <a:pathLst>
                <a:path h="775968" w="775968">
                  <a:moveTo>
                    <a:pt x="0" y="0"/>
                  </a:moveTo>
                  <a:lnTo>
                    <a:pt x="775968" y="0"/>
                  </a:lnTo>
                  <a:lnTo>
                    <a:pt x="775968" y="775968"/>
                  </a:lnTo>
                  <a:lnTo>
                    <a:pt x="0" y="775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id="12" name="Rounded Rectangle 11"/>
          <p:cNvSpPr/>
          <p:nvPr/>
        </p:nvSpPr>
        <p:spPr>
          <a:xfrm>
            <a:off x="6446520" y="4709160"/>
            <a:ext cx="3063240" cy="3063240"/>
          </a:xfrm>
          <a:prstGeom prst="roundRect">
            <a:avLst>
              <a:gd name="adj" fmla="val 4000"/>
            </a:avLst>
          </a:prstGeom>
          <a:noFill/>
          <a:ln w="28575">
            <a:solidFill>
              <a:srgbClr val="D977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7882127"/>
            <a:ext cx="39776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8A8578"/>
                </a:solidFill>
                <a:latin typeface="Georgia"/>
              </a:rPr>
              <a:t>Наведите камеру — все материалы семинара
qlolp.github.io/seminar-materials-2026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A463C"/>
                </a:solidFill>
                <a:latin typeface="Georgia"/>
              </a:rPr>
              <a:t>По QR-коду — все материалы: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D97757"/>
                </a:solidFill>
                <a:latin typeface="Georgia"/>
              </a:rPr>
              <a:t>✦  </a:t>
            </a:r>
            <a:r>
              <a:rPr sz="1450" b="1">
                <a:solidFill>
                  <a:srgbClr val="B85C3D"/>
                </a:solidFill>
                <a:latin typeface="Georgia"/>
              </a:rPr>
              <a:t>Искусственный интеллект в домах соцобслуживания</a:t>
            </a:r>
          </a:p>
          <a:p>
            <a:r>
              <a:rPr sz="1150">
                <a:solidFill>
                  <a:srgbClr val="4A463C"/>
                </a:solidFill>
                <a:latin typeface="Georgia"/>
              </a:rPr>
              <a:t>    доклад + презентация (41 слайд)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D97757"/>
                </a:solidFill>
                <a:latin typeface="Georgia"/>
              </a:rPr>
              <a:t>✦  </a:t>
            </a:r>
            <a:r>
              <a:rPr sz="1450" b="1">
                <a:solidFill>
                  <a:srgbClr val="B85C3D"/>
                </a:solidFill>
                <a:latin typeface="Georgia"/>
              </a:rPr>
              <a:t>Не просто накормить: вариативное меню в ПНИ</a:t>
            </a:r>
          </a:p>
          <a:p>
            <a:r>
              <a:rPr sz="1150">
                <a:solidFill>
                  <a:srgbClr val="4A463C"/>
                </a:solidFill>
                <a:latin typeface="Georgia"/>
              </a:rPr>
              <a:t>    доклад + презентация (41 слайд)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D97757"/>
                </a:solidFill>
                <a:latin typeface="Georgia"/>
              </a:rPr>
              <a:t>✦  </a:t>
            </a:r>
            <a:r>
              <a:rPr sz="1450" b="1">
                <a:solidFill>
                  <a:srgbClr val="B85C3D"/>
                </a:solidFill>
                <a:latin typeface="Georgia"/>
              </a:rPr>
              <a:t>Викторина и раздаточные материалы</a:t>
            </a:r>
          </a:p>
          <a:p>
            <a:r>
              <a:rPr sz="1150">
                <a:solidFill>
                  <a:srgbClr val="4A463C"/>
                </a:solidFill>
                <a:latin typeface="Georgia"/>
              </a:rPr>
              <a:t>    вопросы, ответы, памятки</a:t>
            </a:r>
          </a:p>
          <a:p>
            <a:pPr>
              <a:spcBef>
                <a:spcPts val="1400"/>
              </a:spcBef>
            </a:pPr>
            <a:r>
              <a:rPr sz="1050">
                <a:solidFill>
                  <a:srgbClr val="8A8578"/>
                </a:solidFill>
                <a:latin typeface="Georgia"/>
              </a:rPr>
              <a:t>Семинар «Пространство Новых Идей 2.0» · Санкт-Петербург · 25–27.08.2026</a:t>
            </a:r>
          </a:p>
        </p:txBody>
      </p:sp>
      <p:pic>
        <p:nvPicPr>
          <p:cNvPr id="15" name="Picture 14" descr="qr_materi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5074920"/>
            <a:ext cx="2331720" cy="2331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Презентация - Материалы докладов и контакт</dc:description>
  <dc:identifier>DAHRIlV8dUA</dc:identifier>
  <dcterms:modified xsi:type="dcterms:W3CDTF">2011-08-01T06:04:30Z</dcterms:modified>
  <cp:revision>1</cp:revision>
  <dc:title>Презентация - Материалы докладов и контакт</dc:title>
</cp:coreProperties>
</file>